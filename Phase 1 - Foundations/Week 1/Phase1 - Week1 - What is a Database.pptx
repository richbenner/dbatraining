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3" r:id="rId6"/>
    <p:sldId id="260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65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https://learn.microsoft.com/en-us/sql/relational-databases/databases/databases?view=sql-server-ver17 (SQL Server databases composed of tables/rows/columns)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https://learn.microsoft.com/en-us/sql/relational-databases/databases/databases?view=sql-server-ver17 (SQL Server database composed of tables storing structured data)
- https://cloud.google.com/learn/what-is-a-relational-database (relational databases structure data in tables; relationships between tables)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https://learn.microsoft.com/en-us/sql/relational-databases/databases/databases?view=sql-server-ver17 (tables contain rows/columns; rows aka records; columns aka attributes)
- https://en.wikipedia.org/wiki/Relational_database (relational model organizes data into tables of rows/columns; keys)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https://learn.microsoft.com/en-us/sql/relational-databases/databases/databases?view=sql-server-ver17 (SQL Server database structure: collection of tables)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https://azure.microsoft.com/en-us/resources/cloud-computing-dictionary/what-is-a-relational-database (core concepts: tables, keys, relationships)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https://en.wikipedia.org/wiki/Relational_database (keys and relationships; many-to-many resolved with an additional table)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https://learn.microsoft.com/en-us/sql/relational-databases/databases/databases?view=sql-server-ver17 (tables/rows/columns terminology)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B5A"/>
          </a:solidFill>
          <a:ln w="12700">
            <a:solidFill>
              <a:srgbClr val="3B1B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2E1447"/>
          </a:solidFill>
          <a:ln w="12700">
            <a:solidFill>
              <a:srgbClr val="2E14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Week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DBA Training • MCU Training Database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92640" y="1234440"/>
            <a:ext cx="2011680" cy="502920"/>
          </a:xfrm>
          <a:prstGeom prst="ellipse">
            <a:avLst/>
          </a:prstGeom>
          <a:solidFill>
            <a:srgbClr val="33D6C0">
              <a:alpha val="85000"/>
            </a:srgbClr>
          </a:solidFill>
          <a:ln w="12700">
            <a:solidFill>
              <a:srgbClr val="33D6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692640" y="1463040"/>
            <a:ext cx="2011680" cy="1508760"/>
          </a:xfrm>
          <a:prstGeom prst="rect">
            <a:avLst/>
          </a:prstGeom>
          <a:solidFill>
            <a:srgbClr val="33D6C0">
              <a:alpha val="85000"/>
            </a:srgbClr>
          </a:solidFill>
          <a:ln w="12700">
            <a:solidFill>
              <a:srgbClr val="33D6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692640" y="2651760"/>
            <a:ext cx="2011680" cy="502920"/>
          </a:xfrm>
          <a:prstGeom prst="ellipse">
            <a:avLst/>
          </a:prstGeom>
          <a:solidFill>
            <a:srgbClr val="33D6C0">
              <a:alpha val="85000"/>
            </a:srgbClr>
          </a:solidFill>
          <a:ln w="12700">
            <a:solidFill>
              <a:srgbClr val="33D6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9264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1447"/>
          </a:solidFill>
          <a:ln w="12700">
            <a:solidFill>
              <a:srgbClr val="2E14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Week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00600" y="1280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database &amp; RDBMS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4406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3810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51560" y="1463040"/>
            <a:ext cx="502920" cy="502920"/>
          </a:xfrm>
          <a:prstGeom prst="ellipse">
            <a:avLst/>
          </a:prstGeom>
          <a:solidFill>
            <a:srgbClr val="EEE6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51560" y="14996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48006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solidFill>
                <a:srgbClr val="3B3B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organized collection of data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information in a structured way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for reliable retrieval and updates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by applications and users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143000"/>
            <a:ext cx="50749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3810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675120" y="1463040"/>
            <a:ext cx="502920" cy="502920"/>
          </a:xfrm>
          <a:prstGeom prst="ellipse">
            <a:avLst/>
          </a:prstGeom>
          <a:solidFill>
            <a:srgbClr val="EEE6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675120" y="14996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14173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(SQL Server)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011680"/>
            <a:ext cx="44348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solidFill>
                <a:srgbClr val="3B3B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that manages databases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Enforces rules (constraints &amp; relationships)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concurrency (many users at once)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security, backups, and performance features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1447"/>
          </a:solidFill>
          <a:ln w="12700">
            <a:solidFill>
              <a:srgbClr val="2E14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Week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00600" y="1280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basics: tables, rows, columns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relational database, data is organized into tables: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698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10698480" cy="594360"/>
          </a:xfrm>
          <a:prstGeom prst="rect">
            <a:avLst/>
          </a:prstGeom>
          <a:solidFill>
            <a:srgbClr val="4B1F72"/>
          </a:solidFill>
          <a:ln w="12700">
            <a:solidFill>
              <a:srgbClr val="4B1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dbo.Characters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2194560" cy="502920"/>
          </a:xfrm>
          <a:prstGeom prst="rect">
            <a:avLst/>
          </a:prstGeom>
          <a:solidFill>
            <a:srgbClr val="EEE6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0120" y="23500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CharacterID (PK)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240280"/>
            <a:ext cx="3108960" cy="502920"/>
          </a:xfrm>
          <a:prstGeom prst="rect">
            <a:avLst/>
          </a:prstGeom>
          <a:solidFill>
            <a:srgbClr val="EEE6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54680" y="2350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CharacterName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40280"/>
            <a:ext cx="2743200" cy="502920"/>
          </a:xfrm>
          <a:prstGeom prst="rect">
            <a:avLst/>
          </a:prstGeom>
          <a:solidFill>
            <a:srgbClr val="EEE6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63640" y="2350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2240280"/>
            <a:ext cx="2651760" cy="502920"/>
          </a:xfrm>
          <a:prstGeom prst="rect">
            <a:avLst/>
          </a:prstGeom>
          <a:solidFill>
            <a:srgbClr val="EEE6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006840" y="2350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FirstAppearanceYear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274320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Stark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Man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3383280"/>
            <a:ext cx="10698480" cy="640080"/>
          </a:xfrm>
          <a:prstGeom prst="rect">
            <a:avLst/>
          </a:prstGeom>
          <a:solidFill>
            <a:srgbClr val="FBF9FF"/>
          </a:solidFill>
          <a:ln w="12700">
            <a:solidFill>
              <a:srgbClr val="EFE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6012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5468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Rogers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America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068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4023360"/>
            <a:ext cx="10698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960120" y="4206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15468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Natasha Romanoff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Widow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0684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5943600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97280" y="608990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describe attributes • Rows are individual records • Primary key uniquely identifies a row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1447"/>
          </a:solidFill>
          <a:ln w="12700">
            <a:solidFill>
              <a:srgbClr val="2E14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Week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00600" y="1280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database fits (SQL Server view)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layers: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9966960" cy="1234440"/>
          </a:xfrm>
          <a:prstGeom prst="roundRect">
            <a:avLst/>
          </a:prstGeom>
          <a:solidFill>
            <a:srgbClr val="4B1F72">
              <a:alpha val="92000"/>
            </a:srgbClr>
          </a:solidFill>
          <a:ln w="12700">
            <a:solidFill>
              <a:srgbClr val="4B1F72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Instance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3591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engine process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97880" y="2788920"/>
            <a:ext cx="411480" cy="411480"/>
          </a:xfrm>
          <a:prstGeom prst="downArrow">
            <a:avLst/>
          </a:prstGeom>
          <a:solidFill>
            <a:srgbClr val="33D6C0"/>
          </a:solidFill>
          <a:ln w="12700">
            <a:solidFill>
              <a:srgbClr val="33D6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97280" y="3246120"/>
            <a:ext cx="9966960" cy="1234440"/>
          </a:xfrm>
          <a:prstGeom prst="roundRect">
            <a:avLst/>
          </a:prstGeom>
          <a:solidFill>
            <a:srgbClr val="6A2FB4">
              <a:alpha val="92000"/>
            </a:srgbClr>
          </a:solidFill>
          <a:ln w="12700">
            <a:solidFill>
              <a:srgbClr val="6A2FB4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(e.g., MCU_Training)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9593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for tables, views, procedures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4389120"/>
            <a:ext cx="411480" cy="411480"/>
          </a:xfrm>
          <a:prstGeom prst="downArrow">
            <a:avLst/>
          </a:prstGeom>
          <a:solidFill>
            <a:srgbClr val="33D6C0"/>
          </a:solidFill>
          <a:ln w="12700">
            <a:solidFill>
              <a:srgbClr val="33D6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097280" y="4846320"/>
            <a:ext cx="9966960" cy="1234440"/>
          </a:xfrm>
          <a:prstGeom prst="roundRect">
            <a:avLst/>
          </a:prstGeom>
          <a:solidFill>
            <a:srgbClr val="7D3CFF">
              <a:alpha val="92000"/>
            </a:srgbClr>
          </a:solidFill>
          <a:ln w="12700">
            <a:solidFill>
              <a:srgbClr val="7D3C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463040" y="5074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(dbo.Characters, dbo.Films, …)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5559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rows of data live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 people say “connect to SQL Server”, they mean connect to an instance. Then you choose a database.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1447"/>
          </a:solidFill>
          <a:ln w="12700">
            <a:solidFill>
              <a:srgbClr val="2E14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Week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00600" y="1280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 (5–10 minutes)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thinking: identify facts and how they relate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Entities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things we need to store facts about: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(later)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/ Phases (later)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440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720840" y="19659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Relationships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24688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entities connect: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 can appear in many Films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Film has many Characters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need a “bridge” table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1447"/>
          </a:solidFill>
          <a:ln w="12700">
            <a:solidFill>
              <a:srgbClr val="2E14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Week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00600" y="1280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linking facts together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example: a Character appears in many Films (and Films have many Characters)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8357" y="192024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68357" y="1920240"/>
            <a:ext cx="3566160" cy="502920"/>
          </a:xfrm>
          <a:prstGeom prst="rect">
            <a:avLst/>
          </a:prstGeom>
          <a:solidFill>
            <a:srgbClr val="4B1F72"/>
          </a:solidFill>
          <a:ln w="12700">
            <a:solidFill>
              <a:srgbClr val="4B1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1237" y="2029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dbo.Characters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6957" y="26060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CharacterID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8443" y="1709928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418443" y="1709928"/>
            <a:ext cx="3566160" cy="502920"/>
          </a:xfrm>
          <a:prstGeom prst="rect">
            <a:avLst/>
          </a:prstGeom>
          <a:solidFill>
            <a:srgbClr val="4B1F72"/>
          </a:solidFill>
          <a:ln w="12700">
            <a:solidFill>
              <a:srgbClr val="4B1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601323" y="1819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dbo.Films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47043" y="2395728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FilmID (PK)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FilmTitle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30632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343400" y="3063240"/>
            <a:ext cx="3520440" cy="502920"/>
          </a:xfrm>
          <a:prstGeom prst="rect">
            <a:avLst/>
          </a:prstGeom>
          <a:solidFill>
            <a:srgbClr val="4B1F72"/>
          </a:solidFill>
          <a:ln w="12700">
            <a:solidFill>
              <a:srgbClr val="4B1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26280" y="317296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dbo.CharacterFilmAppearances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CharacterID (FK → Characters)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FilmID (FK → Films)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RoleType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63117" y="2729019"/>
            <a:ext cx="0" cy="1149229"/>
          </a:xfrm>
          <a:prstGeom prst="line">
            <a:avLst/>
          </a:prstGeom>
          <a:noFill/>
          <a:ln w="38100">
            <a:solidFill>
              <a:srgbClr val="6A2F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223636" y="2490745"/>
            <a:ext cx="11909" cy="1607886"/>
          </a:xfrm>
          <a:prstGeom prst="line">
            <a:avLst/>
          </a:prstGeom>
          <a:noFill/>
          <a:ln w="38100">
            <a:solidFill>
              <a:srgbClr val="6A2F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063116" y="3878248"/>
            <a:ext cx="580445" cy="1"/>
          </a:xfrm>
          <a:prstGeom prst="line">
            <a:avLst/>
          </a:prstGeom>
          <a:noFill/>
          <a:ln w="38100">
            <a:solidFill>
              <a:srgbClr val="6A2F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22960" y="5623560"/>
            <a:ext cx="10561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097280" y="58338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relationships are modeled with a bridging table that stores keys from both sides.</a:t>
            </a:r>
            <a:endParaRPr lang="en-US" sz="15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C2E43E7-BAE7-9406-42DA-FD1273C3B1E8}"/>
              </a:ext>
            </a:extLst>
          </p:cNvPr>
          <p:cNvSpPr/>
          <p:nvPr/>
        </p:nvSpPr>
        <p:spPr>
          <a:xfrm>
            <a:off x="1719469" y="2729020"/>
            <a:ext cx="2343648" cy="0"/>
          </a:xfrm>
          <a:prstGeom prst="line">
            <a:avLst/>
          </a:prstGeom>
          <a:noFill/>
          <a:ln w="38100">
            <a:solidFill>
              <a:srgbClr val="6A2F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6C8BC36E-790C-713D-7F70-85C89BC3C18F}"/>
              </a:ext>
            </a:extLst>
          </p:cNvPr>
          <p:cNvSpPr/>
          <p:nvPr/>
        </p:nvSpPr>
        <p:spPr>
          <a:xfrm>
            <a:off x="8223636" y="2490745"/>
            <a:ext cx="478403" cy="0"/>
          </a:xfrm>
          <a:prstGeom prst="line">
            <a:avLst/>
          </a:prstGeom>
          <a:noFill/>
          <a:ln w="38100">
            <a:solidFill>
              <a:srgbClr val="6A2F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BFA5F51E-BD5D-3DF0-C10E-B7C2F0A1C966}"/>
              </a:ext>
            </a:extLst>
          </p:cNvPr>
          <p:cNvSpPr/>
          <p:nvPr/>
        </p:nvSpPr>
        <p:spPr>
          <a:xfrm flipV="1">
            <a:off x="6096000" y="4087367"/>
            <a:ext cx="2139545" cy="11263"/>
          </a:xfrm>
          <a:prstGeom prst="line">
            <a:avLst/>
          </a:prstGeom>
          <a:noFill/>
          <a:ln w="38100">
            <a:solidFill>
              <a:srgbClr val="6A2F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E1447"/>
          </a:solidFill>
          <a:ln w="12700">
            <a:solidFill>
              <a:srgbClr val="2E144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• Week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00600" y="1280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12191695" cy="6263640"/>
          </a:xfrm>
          <a:prstGeom prst="rect">
            <a:avLst/>
          </a:prstGeom>
          <a:solidFill>
            <a:srgbClr val="F4EEFF"/>
          </a:solidFill>
          <a:ln w="12700">
            <a:solidFill>
              <a:srgbClr val="F4EE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to remember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E6F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(SQL Server)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Row / Column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(PK)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(FK)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(one-to-many, many-to-many)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20840" y="1645920"/>
            <a:ext cx="4709160" cy="4480560"/>
          </a:xfrm>
          <a:prstGeom prst="roundRect">
            <a:avLst/>
          </a:prstGeom>
          <a:solidFill>
            <a:srgbClr val="4B1F72">
              <a:alpha val="92000"/>
            </a:srgbClr>
          </a:solidFill>
          <a:ln w="12700">
            <a:solidFill>
              <a:srgbClr val="4B1F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040880" y="20116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(Week 2):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SQL Server Developer Edition + SSMS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0880" y="3337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validate your instance and learn how to connect with SSMS.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43434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E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questions you want your MCU database to answer.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826</Words>
  <Application>Microsoft Office PowerPoint</Application>
  <PresentationFormat>Widescreen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SQL Server DBA Training</dc:creator>
  <cp:lastModifiedBy>Rich Benner</cp:lastModifiedBy>
  <cp:revision>3</cp:revision>
  <dcterms:created xsi:type="dcterms:W3CDTF">2026-02-25T17:37:28Z</dcterms:created>
  <dcterms:modified xsi:type="dcterms:W3CDTF">2026-02-25T21:18:06Z</dcterms:modified>
</cp:coreProperties>
</file>